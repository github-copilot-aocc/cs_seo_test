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61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CE362-F238-4B21-89ED-39146E08C27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106F2-9BF4-4528-88E4-F3FCC3352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28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106F2-9BF4-4528-88E4-F3FCC335231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911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0">
            <a:extLst>
              <a:ext uri="{FF2B5EF4-FFF2-40B4-BE49-F238E27FC236}">
                <a16:creationId xmlns:a16="http://schemas.microsoft.com/office/drawing/2014/main" id="{50B3E80E-4489-4DA5-8F6D-EECC2E9FC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638" y="202049"/>
            <a:ext cx="11726724" cy="5889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kumimoji="0" lang="zh-TW" altLang="en-US" sz="4000" b="0" i="0" u="none" strike="noStrike" kern="1200" cap="none" spc="0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T Norms Pro Light" panose="02000503020000020003" pitchFamily="2" charset="0"/>
                <a:ea typeface="微軟正黑體" panose="020B0604030504040204" pitchFamily="34" charset="-120"/>
                <a:cs typeface="+mn-cs"/>
              </a:defRPr>
            </a:lvl1pPr>
          </a:lstStyle>
          <a:p>
            <a:pPr lvl="0"/>
            <a:r>
              <a:rPr lang="en-US" altLang="zh-TW"/>
              <a:t>Title in TT Norms Pro Light 40pt</a:t>
            </a:r>
            <a:endParaRPr lang="zh-TW" altLang="en-US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5F3E4599-9576-4297-AA80-11BE62C5F8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2638" y="6422514"/>
            <a:ext cx="2865600" cy="219669"/>
          </a:xfrm>
          <a:prstGeom prst="rect">
            <a:avLst/>
          </a:prstGeom>
        </p:spPr>
      </p:pic>
      <p:sp>
        <p:nvSpPr>
          <p:cNvPr id="9" name="Shape 53">
            <a:extLst>
              <a:ext uri="{FF2B5EF4-FFF2-40B4-BE49-F238E27FC236}">
                <a16:creationId xmlns:a16="http://schemas.microsoft.com/office/drawing/2014/main" id="{CFBB9505-85F6-45D2-8F14-C590AAE8D378}"/>
              </a:ext>
            </a:extLst>
          </p:cNvPr>
          <p:cNvSpPr/>
          <p:nvPr userDrawn="1"/>
        </p:nvSpPr>
        <p:spPr>
          <a:xfrm>
            <a:off x="9500753" y="6529179"/>
            <a:ext cx="2776972" cy="107722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square" lIns="288000" tIns="0" rIns="288000" bIns="0">
            <a:spAutoFit/>
          </a:bodyPr>
          <a:lstStyle>
            <a:lvl1pPr algn="ctr">
              <a:defRPr sz="600">
                <a:solidFill>
                  <a:srgbClr val="808080"/>
                </a:solidFill>
                <a:latin typeface="HelveticaNeueLT Pro 65 Md"/>
                <a:ea typeface="HelveticaNeueLT Pro 65 Md"/>
                <a:cs typeface="HelveticaNeueLT Pro 65 Md"/>
                <a:sym typeface="HelveticaNeueLT Pro 65 Md"/>
              </a:defRPr>
            </a:lvl1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</a:defRPr>
            </a:pPr>
            <a:r>
              <a:rPr sz="700">
                <a:solidFill>
                  <a:schemeClr val="bg2">
                    <a:lumMod val="90000"/>
                  </a:schemeClr>
                </a:solidFill>
                <a:latin typeface="TT Norms Pro" panose="02000503030000020003" pitchFamily="2" charset="0"/>
                <a:ea typeface="Avenir Book" charset="0"/>
                <a:cs typeface="Avenir Book" charset="0"/>
              </a:rPr>
              <a:t>CONFIDENTIAL</a:t>
            </a:r>
            <a:r>
              <a:rPr lang="en-US" sz="700" baseline="0">
                <a:solidFill>
                  <a:schemeClr val="bg2">
                    <a:lumMod val="90000"/>
                  </a:schemeClr>
                </a:solidFill>
                <a:latin typeface="TT Norms Pro" panose="02000503030000020003" pitchFamily="2" charset="0"/>
                <a:ea typeface="Avenir Book" charset="0"/>
                <a:cs typeface="Avenir Book" charset="0"/>
              </a:rPr>
              <a:t> AND PROPRIETARY INFORMATION</a:t>
            </a:r>
            <a:endParaRPr sz="700">
              <a:solidFill>
                <a:schemeClr val="bg2">
                  <a:lumMod val="90000"/>
                </a:schemeClr>
              </a:solidFill>
              <a:latin typeface="TT Norms Pro" panose="02000503030000020003" pitchFamily="2" charset="0"/>
              <a:ea typeface="Avenir Book" charset="0"/>
              <a:cs typeface="Avenir Book" charset="0"/>
            </a:endParaRP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00128DA6-DE8F-5B6F-FC96-8DA39AD16F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2638" y="945907"/>
            <a:ext cx="11726723" cy="5181055"/>
          </a:xfrm>
          <a:prstGeom prst="rect">
            <a:avLst/>
          </a:prstGeom>
        </p:spPr>
        <p:txBody>
          <a:bodyPr/>
          <a:lstStyle>
            <a:lvl1pPr marL="457200" indent="-457200">
              <a:buClrTx/>
              <a:buSzPct val="70000"/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1pPr>
            <a:lvl2pPr marL="742950" indent="-285750">
              <a:buClrTx/>
              <a:buSzPct val="70000"/>
              <a:buFont typeface="Wingdings" panose="05000000000000000000" pitchFamily="2" charset="2"/>
              <a:buChar char="ü"/>
              <a:defRPr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2pPr>
            <a:lvl3pPr marL="1143000" indent="-228600">
              <a:buClrTx/>
              <a:buSzPct val="60000"/>
              <a:buFont typeface="Wingdings" panose="05000000000000000000" pitchFamily="2" charset="2"/>
              <a:buChar char="u"/>
              <a:defRPr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3pPr>
            <a:lvl4pPr marL="1600200" indent="-228600">
              <a:buClrTx/>
              <a:buSzPct val="60000"/>
              <a:buFont typeface="Courier New" panose="02070309020205020404" pitchFamily="49" charset="0"/>
              <a:buChar char="o"/>
              <a:defRPr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4pPr>
            <a:lvl5pPr marL="2057400" indent="-228600">
              <a:buClrTx/>
              <a:buSzPct val="70000"/>
              <a:buFont typeface="Wingdings" panose="05000000000000000000" pitchFamily="2" charset="2"/>
              <a:buChar char="Ø"/>
              <a:defRPr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5pPr>
            <a:lvl6pPr marL="2628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60000"/>
              <a:buFont typeface="Wingdings" pitchFamily="2" charset="2"/>
              <a:buChar char="q"/>
              <a:tabLst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  <a:latin typeface="TT Norms Pro" panose="02000503030000020003" pitchFamily="2" charset="0"/>
                <a:ea typeface="微軟正黑體" panose="020B0604030504040204" pitchFamily="34" charset="-120"/>
              </a:defRPr>
            </a:lvl6pPr>
          </a:lstStyle>
          <a:p>
            <a:pPr lvl="0"/>
            <a:r>
              <a:rPr lang="en-US" altLang="zh-TW"/>
              <a:t>Subtitle</a:t>
            </a:r>
            <a:endParaRPr lang="zh-TW" altLang="en-US"/>
          </a:p>
          <a:p>
            <a:pPr lvl="1"/>
            <a:r>
              <a:rPr lang="en-US" altLang="zh-TW"/>
              <a:t>Second layer</a:t>
            </a:r>
            <a:endParaRPr lang="zh-TW" altLang="en-US"/>
          </a:p>
          <a:p>
            <a:pPr lvl="2"/>
            <a:r>
              <a:rPr lang="en-US" altLang="zh-TW"/>
              <a:t>Third layer</a:t>
            </a:r>
            <a:endParaRPr lang="zh-TW" altLang="en-US"/>
          </a:p>
          <a:p>
            <a:pPr lvl="3"/>
            <a:r>
              <a:rPr lang="en-US" altLang="zh-TW"/>
              <a:t>Fourth layer</a:t>
            </a:r>
            <a:endParaRPr lang="zh-TW" altLang="en-US"/>
          </a:p>
          <a:p>
            <a:pPr lvl="4"/>
            <a:r>
              <a:rPr lang="en-US" altLang="zh-TW"/>
              <a:t>Fifth layer</a:t>
            </a:r>
          </a:p>
          <a:p>
            <a:pPr lvl="5"/>
            <a:r>
              <a:rPr lang="en-US" altLang="zh-TW"/>
              <a:t>Sixth layer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83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18F30-E5DE-4AEE-B026-8C16EEEA0A8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63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ASUS_Confidential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9BD8A-BF2D-52F4-1948-4BF5FC7790C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063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ASUS_Confidential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1AD4-4036-AD21-2A18-7FD1C0F8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68875BFC-8A65-5EDD-AF91-23A4C6EE0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sz="3600"/>
              <a:t>Tracking Pixel / Code Request Handling Flow</a:t>
            </a:r>
            <a:endParaRPr lang="zh-TW" altLang="en-US" sz="3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3B6649-DB18-8088-0DBC-7644052A7D11}"/>
              </a:ext>
            </a:extLst>
          </p:cNvPr>
          <p:cNvSpPr/>
          <p:nvPr/>
        </p:nvSpPr>
        <p:spPr>
          <a:xfrm>
            <a:off x="99042" y="3197784"/>
            <a:ext cx="1219200" cy="5812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tx1"/>
                </a:solidFill>
              </a:rPr>
              <a:t>HQ / Country User</a:t>
            </a:r>
            <a:endParaRPr lang="zh-TW" altLang="en-US" sz="120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C0C417-38E3-AC3E-91B5-13C1CF9EE492}"/>
              </a:ext>
            </a:extLst>
          </p:cNvPr>
          <p:cNvSpPr/>
          <p:nvPr/>
        </p:nvSpPr>
        <p:spPr>
          <a:xfrm>
            <a:off x="2216839" y="3197784"/>
            <a:ext cx="1219200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AOCC GTM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14A1E4-7448-EBAA-AF26-7418320C823E}"/>
              </a:ext>
            </a:extLst>
          </p:cNvPr>
          <p:cNvSpPr/>
          <p:nvPr/>
        </p:nvSpPr>
        <p:spPr>
          <a:xfrm>
            <a:off x="2225194" y="4399075"/>
            <a:ext cx="1219200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tx1"/>
                </a:solidFill>
              </a:rPr>
              <a:t>AOCC Digital Analytics</a:t>
            </a:r>
            <a:endParaRPr lang="zh-TW" altLang="en-US" sz="120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F3DBDD-D3D4-B069-BC9A-753646CCE06F}"/>
              </a:ext>
            </a:extLst>
          </p:cNvPr>
          <p:cNvSpPr/>
          <p:nvPr/>
        </p:nvSpPr>
        <p:spPr>
          <a:xfrm>
            <a:off x="8064628" y="3197784"/>
            <a:ext cx="1219200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sz="1200" b="1">
                <a:solidFill>
                  <a:srgbClr val="FF0000"/>
                </a:solidFill>
                <a:ea typeface="新細明體"/>
              </a:rPr>
              <a:t>AOCC PM (2)</a:t>
            </a:r>
            <a:endParaRPr lang="zh-TW" altLang="en-US" sz="1200" b="1">
              <a:solidFill>
                <a:srgbClr val="FF0000"/>
              </a:solidFill>
              <a:ea typeface="新細明體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0795E3-860D-764A-0B5E-44E8B7E2DBBF}"/>
              </a:ext>
            </a:extLst>
          </p:cNvPr>
          <p:cNvSpPr/>
          <p:nvPr/>
        </p:nvSpPr>
        <p:spPr>
          <a:xfrm>
            <a:off x="10850012" y="3191433"/>
            <a:ext cx="1219200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tx1"/>
                </a:solidFill>
              </a:rPr>
              <a:t>AOCC SA / RD / Data / QA</a:t>
            </a:r>
            <a:endParaRPr lang="zh-TW" altLang="en-US" sz="1200">
              <a:solidFill>
                <a:schemeClr val="tx1"/>
              </a:solidFill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D3C658B-743F-845F-CC0C-978FF76240A8}"/>
              </a:ext>
            </a:extLst>
          </p:cNvPr>
          <p:cNvCxnSpPr>
            <a:cxnSpLocks/>
          </p:cNvCxnSpPr>
          <p:nvPr/>
        </p:nvCxnSpPr>
        <p:spPr>
          <a:xfrm>
            <a:off x="1318242" y="3488408"/>
            <a:ext cx="898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3716302-9410-EC65-F85E-9E0F7E307C9C}"/>
              </a:ext>
            </a:extLst>
          </p:cNvPr>
          <p:cNvSpPr txBox="1"/>
          <p:nvPr/>
        </p:nvSpPr>
        <p:spPr>
          <a:xfrm>
            <a:off x="25591" y="3841302"/>
            <a:ext cx="22513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>
                <a:solidFill>
                  <a:srgbClr val="0F0F0F"/>
                </a:solidFill>
                <a:effectLst/>
                <a:latin typeface="Söhne"/>
              </a:rPr>
              <a:t>Create a </a:t>
            </a:r>
            <a:r>
              <a:rPr lang="en-US" sz="1000" b="1" i="0">
                <a:solidFill>
                  <a:srgbClr val="00B050"/>
                </a:solidFill>
                <a:effectLst/>
                <a:latin typeface="Söhne"/>
              </a:rPr>
              <a:t>Requirement</a:t>
            </a:r>
            <a:r>
              <a:rPr lang="en-US" sz="1000" b="0" i="0">
                <a:solidFill>
                  <a:srgbClr val="0F0F0F"/>
                </a:solidFill>
                <a:effectLst/>
                <a:latin typeface="Söhne"/>
              </a:rPr>
              <a:t> Jira ticket for each tool and site in “</a:t>
            </a:r>
            <a:r>
              <a:rPr lang="en-US" sz="1000" b="0" i="0">
                <a:solidFill>
                  <a:schemeClr val="accent1"/>
                </a:solidFill>
                <a:effectLst/>
                <a:latin typeface="Söhne"/>
              </a:rPr>
              <a:t>2in1 Project Issue Management</a:t>
            </a:r>
            <a:r>
              <a:rPr lang="en-US" sz="1000" b="0" i="0">
                <a:solidFill>
                  <a:srgbClr val="0F0F0F"/>
                </a:solidFill>
                <a:effectLst/>
                <a:latin typeface="Söhne"/>
              </a:rPr>
              <a:t>”. A separate Jira ticket is needed. Please also provide the following information:</a:t>
            </a:r>
          </a:p>
          <a:p>
            <a:endParaRPr lang="en-US" altLang="zh-TW" sz="1000">
              <a:solidFill>
                <a:srgbClr val="0F0F0F"/>
              </a:solidFill>
              <a:latin typeface="Söh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>
                <a:solidFill>
                  <a:srgbClr val="0F0F0F"/>
                </a:solidFill>
                <a:latin typeface="Söhne"/>
              </a:rPr>
              <a:t>A clear tag and description.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>
                <a:solidFill>
                  <a:srgbClr val="0F0F0F"/>
                </a:solidFill>
                <a:latin typeface="Söhne"/>
              </a:rPr>
              <a:t>LA number for DPA verification.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>
                <a:solidFill>
                  <a:srgbClr val="0F0F0F"/>
                </a:solidFill>
                <a:latin typeface="Söhne"/>
              </a:rPr>
              <a:t>Site or page to be triggered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>
                <a:solidFill>
                  <a:srgbClr val="0F0F0F"/>
                </a:solidFill>
                <a:latin typeface="Söhne"/>
              </a:rPr>
              <a:t>Expiry date of the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>
                <a:solidFill>
                  <a:srgbClr val="0F0F0F"/>
                </a:solidFill>
                <a:latin typeface="Söhne"/>
              </a:rPr>
              <a:t>CSP (Content Security Policy) rules applicable to the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00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27DA79E-ACFE-8630-6AF5-3D95CC94E813}"/>
              </a:ext>
            </a:extLst>
          </p:cNvPr>
          <p:cNvCxnSpPr>
            <a:cxnSpLocks/>
          </p:cNvCxnSpPr>
          <p:nvPr/>
        </p:nvCxnSpPr>
        <p:spPr>
          <a:xfrm>
            <a:off x="2834794" y="3772681"/>
            <a:ext cx="0" cy="6263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1C1AE8-AC5F-BB3A-AA43-2BF93DC88B90}"/>
              </a:ext>
            </a:extLst>
          </p:cNvPr>
          <p:cNvSpPr txBox="1"/>
          <p:nvPr/>
        </p:nvSpPr>
        <p:spPr>
          <a:xfrm>
            <a:off x="2942675" y="3932966"/>
            <a:ext cx="1535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Consult &amp; discuss the solution with DA team</a:t>
            </a:r>
            <a:endParaRPr lang="zh-TW" altLang="en-US" sz="1000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D29FE6E-1C4E-C193-FA2A-18BB08265467}"/>
              </a:ext>
            </a:extLst>
          </p:cNvPr>
          <p:cNvCxnSpPr>
            <a:cxnSpLocks/>
          </p:cNvCxnSpPr>
          <p:nvPr/>
        </p:nvCxnSpPr>
        <p:spPr>
          <a:xfrm>
            <a:off x="6454454" y="3475124"/>
            <a:ext cx="1600014" cy="2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E34F9674-D214-ED69-17F1-4AF978D20AC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67541" y="2138885"/>
            <a:ext cx="12700" cy="211779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FD9F641-55A1-0D2F-7643-CCF748295BD1}"/>
              </a:ext>
            </a:extLst>
          </p:cNvPr>
          <p:cNvSpPr txBox="1"/>
          <p:nvPr/>
        </p:nvSpPr>
        <p:spPr>
          <a:xfrm>
            <a:off x="3442629" y="3084947"/>
            <a:ext cx="165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/>
              <a:t>Assign the ticket to PM to arrange the development</a:t>
            </a:r>
            <a:endParaRPr lang="zh-TW" altLang="en-US" sz="100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63B342A-7864-0B9F-B7B1-8D33FB990BD8}"/>
              </a:ext>
            </a:extLst>
          </p:cNvPr>
          <p:cNvSpPr txBox="1"/>
          <p:nvPr/>
        </p:nvSpPr>
        <p:spPr>
          <a:xfrm>
            <a:off x="4896672" y="4293396"/>
            <a:ext cx="2068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 dirty="0"/>
              <a:t>Move the ticket to Kanban, create </a:t>
            </a:r>
            <a:r>
              <a:rPr lang="en-US" altLang="zh-TW" sz="1000" b="1" dirty="0">
                <a:solidFill>
                  <a:srgbClr val="7030A0"/>
                </a:solidFill>
              </a:rPr>
              <a:t>New Feature </a:t>
            </a:r>
            <a:r>
              <a:rPr lang="en-US" altLang="zh-TW" sz="1000" dirty="0"/>
              <a:t>ticket</a:t>
            </a:r>
          </a:p>
        </p:txBody>
      </p:sp>
      <p:pic>
        <p:nvPicPr>
          <p:cNvPr id="21" name="Picture 28">
            <a:extLst>
              <a:ext uri="{FF2B5EF4-FFF2-40B4-BE49-F238E27FC236}">
                <a16:creationId xmlns:a16="http://schemas.microsoft.com/office/drawing/2014/main" id="{FFDB5CD7-AD58-C3EF-1F16-357E0A90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361" y="4699219"/>
            <a:ext cx="1886680" cy="233589"/>
          </a:xfrm>
          <a:prstGeom prst="rect">
            <a:avLst/>
          </a:prstGeom>
          <a:ln w="28575">
            <a:noFill/>
            <a:prstDash val="sysDash"/>
          </a:ln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32F29C2F-DF47-D6BE-3FA8-E7830EA79DE6}"/>
              </a:ext>
            </a:extLst>
          </p:cNvPr>
          <p:cNvSpPr txBox="1"/>
          <p:nvPr/>
        </p:nvSpPr>
        <p:spPr>
          <a:xfrm>
            <a:off x="7699189" y="3915126"/>
            <a:ext cx="2327291" cy="553998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TW" sz="1000">
                <a:ea typeface="新細明體"/>
              </a:rPr>
              <a:t>Complete the requirement description</a:t>
            </a:r>
            <a:br>
              <a:rPr lang="en-US" altLang="zh-TW" sz="1000">
                <a:ea typeface="新細明體"/>
              </a:rPr>
            </a:br>
            <a:r>
              <a:rPr lang="en-US" altLang="zh-TW" sz="1000">
                <a:ea typeface="新細明體"/>
              </a:rPr>
              <a:t>Assing ticket to "Reporter" PM for processing </a:t>
            </a:r>
            <a:endParaRPr lang="zh-TW" altLang="en-US" sz="1000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5A905B69-1206-21BA-92ED-900B98B37EE8}"/>
              </a:ext>
            </a:extLst>
          </p:cNvPr>
          <p:cNvCxnSpPr>
            <a:cxnSpLocks/>
          </p:cNvCxnSpPr>
          <p:nvPr/>
        </p:nvCxnSpPr>
        <p:spPr>
          <a:xfrm flipV="1">
            <a:off x="9283828" y="3482057"/>
            <a:ext cx="1566184" cy="63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E910164-F1DD-D3EC-7C9A-89BF5EC00423}"/>
              </a:ext>
            </a:extLst>
          </p:cNvPr>
          <p:cNvSpPr txBox="1"/>
          <p:nvPr/>
        </p:nvSpPr>
        <p:spPr>
          <a:xfrm>
            <a:off x="9363931" y="3023625"/>
            <a:ext cx="165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/>
              <a:t>Arrange resource and development plan</a:t>
            </a:r>
            <a:endParaRPr lang="zh-TW" altLang="en-US" sz="10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93D5E03-CD88-0B1D-6B18-765E50D2370A}"/>
              </a:ext>
            </a:extLst>
          </p:cNvPr>
          <p:cNvSpPr txBox="1"/>
          <p:nvPr/>
        </p:nvSpPr>
        <p:spPr>
          <a:xfrm>
            <a:off x="10189614" y="3859186"/>
            <a:ext cx="1984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/>
              <a:t>Create feature spec, process feature development and validation</a:t>
            </a:r>
            <a:endParaRPr lang="zh-TW" altLang="en-US" sz="1000"/>
          </a:p>
        </p:txBody>
      </p:sp>
      <p:cxnSp>
        <p:nvCxnSpPr>
          <p:cNvPr id="30" name="肘形接點 29">
            <a:extLst>
              <a:ext uri="{FF2B5EF4-FFF2-40B4-BE49-F238E27FC236}">
                <a16:creationId xmlns:a16="http://schemas.microsoft.com/office/drawing/2014/main" id="{5D9C8EE7-BA75-083E-2EE0-DD3DB8A03245}"/>
              </a:ext>
            </a:extLst>
          </p:cNvPr>
          <p:cNvCxnSpPr>
            <a:cxnSpLocks/>
          </p:cNvCxnSpPr>
          <p:nvPr/>
        </p:nvCxnSpPr>
        <p:spPr>
          <a:xfrm rot="16200000" flipV="1">
            <a:off x="4691435" y="-785009"/>
            <a:ext cx="12700" cy="796558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D858E60-232B-2795-3EA2-C89225A23971}"/>
              </a:ext>
            </a:extLst>
          </p:cNvPr>
          <p:cNvSpPr txBox="1"/>
          <p:nvPr/>
        </p:nvSpPr>
        <p:spPr>
          <a:xfrm>
            <a:off x="383618" y="2453284"/>
            <a:ext cx="1535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/>
              <a:t>Feature complete, inform reporter / user</a:t>
            </a:r>
            <a:endParaRPr lang="zh-TW" altLang="en-US" sz="100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ABFA0AE-A2E3-3ECD-EC3C-56A866D08DBA}"/>
              </a:ext>
            </a:extLst>
          </p:cNvPr>
          <p:cNvSpPr txBox="1"/>
          <p:nvPr/>
        </p:nvSpPr>
        <p:spPr>
          <a:xfrm>
            <a:off x="7045400" y="2615452"/>
            <a:ext cx="1535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/>
              <a:t>Feature complete, inform reporter / user</a:t>
            </a:r>
            <a:endParaRPr lang="zh-TW" altLang="en-US" sz="100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4D4FADD9-BB11-EF72-E560-F6384E946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900721"/>
              </p:ext>
            </p:extLst>
          </p:nvPr>
        </p:nvGraphicFramePr>
        <p:xfrm>
          <a:off x="111802" y="953101"/>
          <a:ext cx="285019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988">
                  <a:extLst>
                    <a:ext uri="{9D8B030D-6E8A-4147-A177-3AD203B41FA5}">
                      <a16:colId xmlns:a16="http://schemas.microsoft.com/office/drawing/2014/main" val="2250455892"/>
                    </a:ext>
                  </a:extLst>
                </a:gridCol>
                <a:gridCol w="972109">
                  <a:extLst>
                    <a:ext uri="{9D8B030D-6E8A-4147-A177-3AD203B41FA5}">
                      <a16:colId xmlns:a16="http://schemas.microsoft.com/office/drawing/2014/main" val="2081268502"/>
                    </a:ext>
                  </a:extLst>
                </a:gridCol>
                <a:gridCol w="997098">
                  <a:extLst>
                    <a:ext uri="{9D8B030D-6E8A-4147-A177-3AD203B41FA5}">
                      <a16:colId xmlns:a16="http://schemas.microsoft.com/office/drawing/2014/main" val="2862350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/>
                        <a:t>Region</a:t>
                      </a:r>
                      <a:endParaRPr lang="zh-TW" alt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/>
                        <a:t>AOCC</a:t>
                      </a:r>
                      <a:r>
                        <a:rPr lang="en-US" altLang="zh-TW" sz="1000" baseline="0"/>
                        <a:t> GTM</a:t>
                      </a:r>
                      <a:endParaRPr lang="zh-TW" altLang="en-US" sz="10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/>
                        <a:t>BU</a:t>
                      </a:r>
                      <a:endParaRPr lang="zh-TW" altLang="en-US" sz="10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6773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HQ, TW, CN</a:t>
                      </a:r>
                      <a:endParaRPr lang="zh-TW" altLang="en-US" sz="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>
                          <a:effectLst/>
                        </a:rPr>
                        <a:t>Jesse_Jiang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781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W. EU &amp; 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IrisZS_Liu</a:t>
                      </a:r>
                      <a:endParaRPr lang="en-US" altLang="zh-TW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SYS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4232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E. EU &amp; Africa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Britney_Lin</a:t>
                      </a:r>
                      <a:endParaRPr lang="en-US" altLang="zh-TW" sz="800" err="1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Gaming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098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APAC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Eric_Zhen</a:t>
                      </a:r>
                      <a:endParaRPr lang="en-US" sz="800" b="0" i="0" u="none" strike="noStrike" noProof="0" err="1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OP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7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N. America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Vincent_Hung</a:t>
                      </a:r>
                      <a:endParaRPr lang="en-US" altLang="zh-TW" sz="800" err="1"/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800"/>
                        <a:t>AIOT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53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800"/>
                        <a:t>S. America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800"/>
                        <a:t>Kristy_Liu</a:t>
                      </a:r>
                      <a:endParaRPr lang="zh-TW" altLang="en-US" sz="800" err="1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800"/>
                        <a:t>Commercial</a:t>
                      </a:r>
                      <a:endParaRPr lang="zh-TW" altLang="en-US" sz="8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119256"/>
                  </a:ext>
                </a:extLst>
              </a:tr>
            </a:tbl>
          </a:graphicData>
        </a:graphic>
      </p:graphicFrame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3D626EA3-8E87-7245-3B31-32819F248F77}"/>
              </a:ext>
            </a:extLst>
          </p:cNvPr>
          <p:cNvCxnSpPr>
            <a:cxnSpLocks/>
          </p:cNvCxnSpPr>
          <p:nvPr/>
        </p:nvCxnSpPr>
        <p:spPr>
          <a:xfrm>
            <a:off x="1767540" y="2477454"/>
            <a:ext cx="438864" cy="705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6DCFB4B8-DDDA-19E1-92F6-5E5E6F84CC69}"/>
              </a:ext>
            </a:extLst>
          </p:cNvPr>
          <p:cNvCxnSpPr>
            <a:cxnSpLocks/>
          </p:cNvCxnSpPr>
          <p:nvPr/>
        </p:nvCxnSpPr>
        <p:spPr>
          <a:xfrm flipH="1">
            <a:off x="9091006" y="2544483"/>
            <a:ext cx="241886" cy="5177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35022DD2-F75F-EBBC-41F4-5FC716EEC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938177"/>
              </p:ext>
            </p:extLst>
          </p:nvPr>
        </p:nvGraphicFramePr>
        <p:xfrm>
          <a:off x="9091006" y="1141414"/>
          <a:ext cx="2978206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131">
                  <a:extLst>
                    <a:ext uri="{9D8B030D-6E8A-4147-A177-3AD203B41FA5}">
                      <a16:colId xmlns:a16="http://schemas.microsoft.com/office/drawing/2014/main" val="2250455892"/>
                    </a:ext>
                  </a:extLst>
                </a:gridCol>
                <a:gridCol w="1874075">
                  <a:extLst>
                    <a:ext uri="{9D8B030D-6E8A-4147-A177-3AD203B41FA5}">
                      <a16:colId xmlns:a16="http://schemas.microsoft.com/office/drawing/2014/main" val="2081268502"/>
                    </a:ext>
                  </a:extLst>
                </a:gridCol>
              </a:tblGrid>
              <a:tr h="19276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Website</a:t>
                      </a:r>
                      <a:endParaRPr lang="zh-TW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/>
                        <a:t>AOCC</a:t>
                      </a:r>
                      <a:r>
                        <a:rPr lang="en-US" altLang="zh-TW" sz="1000" baseline="0"/>
                        <a:t> PM</a:t>
                      </a:r>
                      <a:endParaRPr lang="zh-TW" altLang="en-US" sz="10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67738440"/>
                  </a:ext>
                </a:extLst>
              </a:tr>
              <a:tr h="168671">
                <a:tc>
                  <a:txBody>
                    <a:bodyPr/>
                    <a:lstStyle/>
                    <a:p>
                      <a:r>
                        <a:rPr lang="en-US" altLang="zh-TW" sz="800" dirty="0"/>
                        <a:t>Official</a:t>
                      </a:r>
                      <a:r>
                        <a:rPr lang="en-US" altLang="zh-TW" sz="800" baseline="0" dirty="0"/>
                        <a:t> Site</a:t>
                      </a:r>
                      <a:endParaRPr lang="zh-TW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800" err="1">
                          <a:effectLst/>
                        </a:rPr>
                        <a:t>Yvonne</a:t>
                      </a:r>
                      <a:r>
                        <a:rPr lang="en-US" altLang="zh-TW" sz="800" err="1">
                          <a:effectLst/>
                        </a:rPr>
                        <a:t>_Chang</a:t>
                      </a:r>
                      <a:r>
                        <a:rPr lang="zh-TW" altLang="en-US" sz="800">
                          <a:effectLst/>
                        </a:rPr>
                        <a:t> </a:t>
                      </a:r>
                      <a:r>
                        <a:rPr lang="en-US" altLang="zh-TW" sz="800">
                          <a:effectLst/>
                        </a:rPr>
                        <a:t>/</a:t>
                      </a:r>
                      <a:r>
                        <a:rPr lang="zh-TW" altLang="en-US" sz="800">
                          <a:effectLst/>
                        </a:rPr>
                        <a:t> </a:t>
                      </a:r>
                      <a:r>
                        <a:rPr lang="en-US" altLang="zh-TW" sz="800" err="1">
                          <a:effectLst/>
                        </a:rPr>
                        <a:t>Isabelle_Chia</a:t>
                      </a:r>
                      <a:endParaRPr lang="en-US" sz="800">
                        <a:effectLst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34232619"/>
                  </a:ext>
                </a:extLst>
              </a:tr>
              <a:tr h="168671">
                <a:tc>
                  <a:txBody>
                    <a:bodyPr/>
                    <a:lstStyle/>
                    <a:p>
                      <a:r>
                        <a:rPr lang="en-US" altLang="zh-TW" sz="800" dirty="0"/>
                        <a:t>ROG Site</a:t>
                      </a:r>
                      <a:endParaRPr lang="zh-TW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 err="1"/>
                        <a:t>CarinaCW_Li</a:t>
                      </a:r>
                      <a:endParaRPr lang="zh-TW" altLang="en-US" sz="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0098414"/>
                  </a:ext>
                </a:extLst>
              </a:tr>
              <a:tr h="168671">
                <a:tc>
                  <a:txBody>
                    <a:bodyPr/>
                    <a:lstStyle/>
                    <a:p>
                      <a:r>
                        <a:rPr lang="en-US" altLang="zh-TW" sz="800" dirty="0"/>
                        <a:t>Commercial Site</a:t>
                      </a:r>
                      <a:endParaRPr lang="zh-TW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800" dirty="0" err="1"/>
                        <a:t>Bana_Tsai</a:t>
                      </a:r>
                      <a:endParaRPr lang="zh-TW" altLang="en-US" sz="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50119256"/>
                  </a:ext>
                </a:extLst>
              </a:tr>
              <a:tr h="168671">
                <a:tc>
                  <a:txBody>
                    <a:bodyPr/>
                    <a:lstStyle/>
                    <a:p>
                      <a:r>
                        <a:rPr lang="en-US" altLang="zh-TW" sz="800" dirty="0" err="1"/>
                        <a:t>ProArit</a:t>
                      </a:r>
                      <a:r>
                        <a:rPr lang="en-US" altLang="zh-TW" sz="800" dirty="0"/>
                        <a:t> Site</a:t>
                      </a:r>
                      <a:endParaRPr lang="zh-TW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800" dirty="0" err="1"/>
                        <a:t>Whitney_Chen</a:t>
                      </a:r>
                      <a:endParaRPr lang="zh-TW" altLang="en-US" sz="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83302877"/>
                  </a:ext>
                </a:extLst>
              </a:tr>
              <a:tr h="168671">
                <a:tc>
                  <a:txBody>
                    <a:bodyPr/>
                    <a:lstStyle/>
                    <a:p>
                      <a:r>
                        <a:rPr lang="en-US" altLang="zh-TW" sz="800" dirty="0"/>
                        <a:t>EC</a:t>
                      </a:r>
                      <a:endParaRPr lang="zh-TW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800" dirty="0"/>
                        <a:t>Gary2_Chen</a:t>
                      </a:r>
                      <a:endParaRPr lang="zh-TW" altLang="en-US" sz="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632527"/>
                  </a:ext>
                </a:extLst>
              </a:tr>
            </a:tbl>
          </a:graphicData>
        </a:graphic>
      </p:graphicFrame>
      <p:sp>
        <p:nvSpPr>
          <p:cNvPr id="3" name="矩形 4">
            <a:extLst>
              <a:ext uri="{FF2B5EF4-FFF2-40B4-BE49-F238E27FC236}">
                <a16:creationId xmlns:a16="http://schemas.microsoft.com/office/drawing/2014/main" id="{ADDFC868-9469-D0BF-8D0E-38581E01DFA9}"/>
              </a:ext>
            </a:extLst>
          </p:cNvPr>
          <p:cNvSpPr/>
          <p:nvPr/>
        </p:nvSpPr>
        <p:spPr>
          <a:xfrm>
            <a:off x="5092042" y="3204820"/>
            <a:ext cx="1362412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AOCC PM (1)</a:t>
            </a:r>
          </a:p>
        </p:txBody>
      </p:sp>
      <p:cxnSp>
        <p:nvCxnSpPr>
          <p:cNvPr id="53" name="直線單箭頭接點 9">
            <a:extLst>
              <a:ext uri="{FF2B5EF4-FFF2-40B4-BE49-F238E27FC236}">
                <a16:creationId xmlns:a16="http://schemas.microsoft.com/office/drawing/2014/main" id="{284032AC-1A5E-D993-CCA7-6111D2F0E92C}"/>
              </a:ext>
            </a:extLst>
          </p:cNvPr>
          <p:cNvCxnSpPr>
            <a:cxnSpLocks/>
          </p:cNvCxnSpPr>
          <p:nvPr/>
        </p:nvCxnSpPr>
        <p:spPr>
          <a:xfrm>
            <a:off x="3436039" y="3488408"/>
            <a:ext cx="1656003" cy="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9">
            <a:extLst>
              <a:ext uri="{FF2B5EF4-FFF2-40B4-BE49-F238E27FC236}">
                <a16:creationId xmlns:a16="http://schemas.microsoft.com/office/drawing/2014/main" id="{35506169-59D3-AB85-42BC-C10A43B2C909}"/>
              </a:ext>
            </a:extLst>
          </p:cNvPr>
          <p:cNvSpPr txBox="1"/>
          <p:nvPr/>
        </p:nvSpPr>
        <p:spPr>
          <a:xfrm>
            <a:off x="4896672" y="3868052"/>
            <a:ext cx="206877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 b="1" dirty="0">
                <a:solidFill>
                  <a:srgbClr val="FF0000"/>
                </a:solidFill>
                <a:ea typeface="新細明體"/>
              </a:rPr>
              <a:t>Website site : </a:t>
            </a:r>
            <a:r>
              <a:rPr lang="en-US" altLang="zh-TW" sz="1000" b="1" dirty="0" err="1">
                <a:solidFill>
                  <a:srgbClr val="FF0000"/>
                </a:solidFill>
                <a:ea typeface="新細明體"/>
              </a:rPr>
              <a:t>Irene_Chou</a:t>
            </a:r>
            <a:r>
              <a:rPr lang="en-US" altLang="zh-TW" sz="1000" b="1" dirty="0">
                <a:solidFill>
                  <a:srgbClr val="FF0000"/>
                </a:solidFill>
                <a:ea typeface="新細明體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 b="1" dirty="0">
                <a:solidFill>
                  <a:srgbClr val="FF0000"/>
                </a:solidFill>
                <a:ea typeface="新細明體"/>
              </a:rPr>
              <a:t>EC site : Gary2_Chen </a:t>
            </a:r>
          </a:p>
        </p:txBody>
      </p:sp>
      <p:sp>
        <p:nvSpPr>
          <p:cNvPr id="27" name="矩形 4">
            <a:extLst>
              <a:ext uri="{FF2B5EF4-FFF2-40B4-BE49-F238E27FC236}">
                <a16:creationId xmlns:a16="http://schemas.microsoft.com/office/drawing/2014/main" id="{CD8666C6-ABD3-E5E2-01B0-18F013227350}"/>
              </a:ext>
            </a:extLst>
          </p:cNvPr>
          <p:cNvSpPr/>
          <p:nvPr/>
        </p:nvSpPr>
        <p:spPr>
          <a:xfrm>
            <a:off x="1959" y="4773"/>
            <a:ext cx="1219200" cy="581248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Microsoft JhengHei"/>
                <a:ea typeface="Microsoft JhengHei"/>
              </a:rPr>
              <a:t>2026. 10. 05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A3FBED-955C-CCB4-1F8B-F11DE6A7C08A}"/>
              </a:ext>
            </a:extLst>
          </p:cNvPr>
          <p:cNvSpPr/>
          <p:nvPr/>
        </p:nvSpPr>
        <p:spPr>
          <a:xfrm>
            <a:off x="8054468" y="5331699"/>
            <a:ext cx="1219200" cy="581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AOCC GTM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0E7D176-A6A4-969E-0D6A-7C2FBFE83438}"/>
              </a:ext>
            </a:extLst>
          </p:cNvPr>
          <p:cNvCxnSpPr>
            <a:cxnSpLocks/>
          </p:cNvCxnSpPr>
          <p:nvPr/>
        </p:nvCxnSpPr>
        <p:spPr>
          <a:xfrm>
            <a:off x="6454454" y="3495444"/>
            <a:ext cx="2209614" cy="1836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2013991-6284-3038-3062-8BA794240EE5}"/>
              </a:ext>
            </a:extLst>
          </p:cNvPr>
          <p:cNvCxnSpPr>
            <a:cxnSpLocks/>
          </p:cNvCxnSpPr>
          <p:nvPr/>
        </p:nvCxnSpPr>
        <p:spPr>
          <a:xfrm flipV="1">
            <a:off x="8664068" y="3779032"/>
            <a:ext cx="10160" cy="1552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1B1F3ED-36D5-E837-492D-6392F95A8798}"/>
              </a:ext>
            </a:extLst>
          </p:cNvPr>
          <p:cNvSpPr txBox="1"/>
          <p:nvPr/>
        </p:nvSpPr>
        <p:spPr>
          <a:xfrm>
            <a:off x="6987891" y="4543831"/>
            <a:ext cx="1535341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altLang="zh-TW" sz="1000">
                <a:ea typeface="新細明體"/>
              </a:rPr>
              <a:t>Set Assignee to GTM for description fill in</a:t>
            </a:r>
            <a:endParaRPr lang="zh-TW" altLang="en-US" sz="10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833B11C1-A73A-7573-63DB-BA814AB91D9A}"/>
              </a:ext>
            </a:extLst>
          </p:cNvPr>
          <p:cNvSpPr txBox="1"/>
          <p:nvPr/>
        </p:nvSpPr>
        <p:spPr>
          <a:xfrm>
            <a:off x="6774675" y="3253927"/>
            <a:ext cx="15353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Set Reporter to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37621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428014-3c0d-4a81-9954-95ff6747ae72}" enabled="1" method="Standard" siteId="{301f59c4-c269-4a66-8a8c-f5daab211fa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</TotalTime>
  <Words>282</Words>
  <Application>Microsoft Office PowerPoint</Application>
  <PresentationFormat>寬螢幕</PresentationFormat>
  <Paragraphs>62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2" baseType="lpstr">
      <vt:lpstr>Söhne</vt:lpstr>
      <vt:lpstr>Microsoft JhengHei</vt:lpstr>
      <vt:lpstr>新細明體</vt:lpstr>
      <vt:lpstr>Aptos</vt:lpstr>
      <vt:lpstr>Aptos Display</vt:lpstr>
      <vt:lpstr>Arial</vt:lpstr>
      <vt:lpstr>Courier New</vt:lpstr>
      <vt:lpstr>TT Norms Pro</vt:lpstr>
      <vt:lpstr>TT Norms Pro Light</vt:lpstr>
      <vt:lpstr>Wingdings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Franky Chen(陳建元)</cp:lastModifiedBy>
  <cp:revision>17</cp:revision>
  <dcterms:created xsi:type="dcterms:W3CDTF">2013-07-15T20:26:40Z</dcterms:created>
  <dcterms:modified xsi:type="dcterms:W3CDTF">2026-10-05T05:43:45Z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ASUS_Confidential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ASUS_Confidential</vt:lpwstr>
  </property>
</Properties>
</file>